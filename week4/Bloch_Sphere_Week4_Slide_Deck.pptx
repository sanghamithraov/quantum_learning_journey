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766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1F2937"/>
                </a:solidFill>
                <a:latin typeface="Aptos"/>
              </a:defRPr>
            </a:pPr>
            <a:r>
              <a:t>Geometrical Rotations</a:t>
            </a:r>
            <a:br/>
            <a:r>
              <a:t>&amp; State Superposition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ptos"/>
              </a:defRPr>
            </a:pPr>
            <a:r>
              <a:t>on the Bloch 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Aptos"/>
              </a:defRPr>
            </a:pPr>
            <a:r>
              <a:t>A beginner-friendly visual guide to single-qubit states,</a:t>
            </a:r>
            <a:br/>
            <a:r>
              <a:t>quantum gates, rotations, matrices, and measurement.</a:t>
            </a:r>
          </a:p>
        </p:txBody>
      </p:sp>
      <p:sp>
        <p:nvSpPr>
          <p:cNvPr id="7" name="Oval 6"/>
          <p:cNvSpPr/>
          <p:nvPr/>
        </p:nvSpPr>
        <p:spPr>
          <a:xfrm>
            <a:off x="7909559" y="1828799"/>
            <a:ext cx="2834640" cy="2834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19" y="148132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9" y="47365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17736" y="1737359"/>
            <a:ext cx="18288" cy="30175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19" y="3236976"/>
            <a:ext cx="301752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09559" y="2820924"/>
            <a:ext cx="2834640" cy="850392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3246120"/>
            <a:ext cx="912162" cy="-9483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65890" y="2224595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8770" y="213315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7" y="2650845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9791" y="33192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669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Quantum Computing Internship • Milestone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From Bits to Qubits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The basic idea behind quantum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3383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CLASSICAL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2926079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bit has one definite value at a time:</a:t>
            </a:r>
            <a:br/>
            <a:br/>
            <a:r>
              <a:t>0  or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QUBIT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26079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qubit is described by a quantum state:</a:t>
            </a:r>
            <a:br/>
            <a:br/>
            <a:r>
              <a:t>|ψ⟩ = α|0⟩ + β|1⟩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73152" cy="33832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THE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84248"/>
            <a:ext cx="2926079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α and β are probability amplitudes.</a:t>
            </a:r>
            <a:br/>
            <a:br/>
            <a:r>
              <a:t>They can be complex numbers.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27080" cy="73152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7667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Aptos"/>
              </a:defRPr>
            </a:pPr>
            <a:r>
              <a:t>A measurement gives a definite classical result: 0 or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Superposition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qubit can contain amplitudes for both basis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7C3AED"/>
                </a:solidFill>
                <a:latin typeface="Aptos"/>
              </a:defRPr>
            </a:pPr>
            <a:r>
              <a:t>|ψ⟩ = α|0⟩ + β|1⟩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Aptos"/>
              </a:defRPr>
            </a:pPr>
            <a:r>
              <a:t>Probability of measuring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Aptos"/>
              </a:defRPr>
            </a:pPr>
            <a:r>
              <a:t>P(0) = |α|²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Aptos"/>
              </a:defRPr>
            </a:pPr>
            <a:r>
              <a:t>Probability of measuring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Aptos"/>
              </a:defRPr>
            </a:pPr>
            <a:r>
              <a:t>P(1) = |β|²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566928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95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Normalization:  |α|² + |β|² = 1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1828799"/>
            <a:ext cx="2834640" cy="2834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48132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7365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1737359"/>
            <a:ext cx="18288" cy="30175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3236976"/>
            <a:ext cx="301752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26679" y="2820924"/>
            <a:ext cx="2834640" cy="850392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3246120"/>
            <a:ext cx="912162" cy="-9483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3010" y="2224595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5890" y="213315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50845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6911" y="33192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892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Example:  |+⟩ = (|0⟩ + |1⟩)/√2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13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ptos"/>
              </a:defRPr>
            </a:pPr>
            <a:r>
              <a:t>→ equal probabilities of 0 and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Meet the Bloch Sphere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Turning the mathematics into a picture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1645919"/>
            <a:ext cx="3657600" cy="36576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298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4136" y="1554479"/>
            <a:ext cx="18288" cy="384048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3465576"/>
            <a:ext cx="384048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2926079"/>
            <a:ext cx="3657600" cy="1097280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3474720"/>
            <a:ext cx="1176983" cy="-12237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7111" y="2177861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9991" y="208642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70662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547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1732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NORTH POLE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84248"/>
            <a:ext cx="4800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|0⟩ — definite computational-basis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74320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743200"/>
            <a:ext cx="73152" cy="1143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07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SOUTH POLE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10128"/>
            <a:ext cx="4800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|1⟩ — definite computational-basis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06908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069080"/>
            <a:ext cx="73152" cy="1143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EQUATOR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36008"/>
            <a:ext cx="4800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Many superposition states live 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|ψ⟩ = cos(θ/2)|0⟩ + e^(iφ)sin(θ/2)|1⟩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Reading the Sphere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Two angles locate the qubit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θ  — THETA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091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Polar angle</a:t>
            </a:r>
            <a:br/>
            <a:br/>
            <a:r>
              <a:t>Measured down from the north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φ  — PHI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95928"/>
            <a:ext cx="47091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Azimuthal angle</a:t>
            </a:r>
            <a:br/>
            <a:br/>
            <a:r>
              <a:t>Measured around the vertical axis.</a:t>
            </a:r>
          </a:p>
        </p:txBody>
      </p:sp>
      <p:sp>
        <p:nvSpPr>
          <p:cNvPr id="14" name="Oval 13"/>
          <p:cNvSpPr/>
          <p:nvPr/>
        </p:nvSpPr>
        <p:spPr>
          <a:xfrm>
            <a:off x="6903720" y="1691640"/>
            <a:ext cx="3200400" cy="3200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344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651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4776" y="1600200"/>
            <a:ext cx="18288" cy="338328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3282696"/>
            <a:ext cx="338328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03720" y="2811780"/>
            <a:ext cx="3200400" cy="960120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3291840"/>
            <a:ext cx="1029860" cy="-107074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60628" y="2147945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3508" y="205650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6197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2046" y="3364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5074920"/>
            <a:ext cx="3977639" cy="7132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528523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Geometry gives intuition.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Quantum Gates =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The same state change can be described algebraically and geometrically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t>ALGEBRA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  <a:latin typeface="Aptos"/>
              </a:defRPr>
            </a:pPr>
            <a:r>
              <a:t>|ψ′⟩ = U|ψ⟩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Aptos"/>
              </a:defRPr>
            </a:pPr>
            <a:r>
              <a:t>matrix × state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508760"/>
            <a:ext cx="2834640" cy="2834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161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416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8856" y="1417320"/>
            <a:ext cx="18288" cy="30175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2916936"/>
            <a:ext cx="301752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2500884"/>
            <a:ext cx="2834640" cy="850392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912162" cy="-9483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97010" y="1904555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9890" y="181311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330805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0911" y="29992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325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Aptos"/>
              </a:defRPr>
            </a:pPr>
            <a:r>
              <a:t>GEOMETRY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828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F2937"/>
                </a:solidFill>
                <a:latin typeface="Aptos"/>
              </a:defRPr>
            </a:pPr>
            <a:r>
              <a:t>A point moves</a:t>
            </a:r>
            <a:br/>
            <a:r>
              <a:t>on the sphere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Aptos"/>
              </a:defRPr>
            </a:pPr>
            <a:r>
              <a:t>often interpreted as a rotation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074920"/>
            <a:ext cx="8503920" cy="73152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5303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Matrix multiplication tells us exactly what 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Pauli-X: A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See the algebra and the geometry 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X = [ 0  1 ; 1  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X|0⟩ = [0 1; 1 0][1; 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Aptos"/>
              </a:defRPr>
            </a:pPr>
            <a:r>
              <a:t>= [0; 1] = |1⟩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4937760" cy="73152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X flips |0⟩ ↔ |1⟩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1463040"/>
            <a:ext cx="3017520" cy="30175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115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53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371600"/>
            <a:ext cx="18288" cy="32004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2962656"/>
            <a:ext cx="320040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2519172"/>
            <a:ext cx="3017520" cy="905255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971800"/>
            <a:ext cx="971011" cy="-100955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27459" y="1889090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0339" y="179765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338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118" y="30449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Geometrically: π rotation</a:t>
            </a:r>
            <a:br/>
            <a:r>
              <a:t>around the x-axis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The Single-Qubit Gate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The gates you have already worked with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Bit flip • π around 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π rotation around 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73152" cy="16916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819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8424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Phase flip • π around 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3075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3308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Creates / changes superposition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3075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3308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Adds π/2 relative phase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3375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73152" cy="16916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73075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133088"/>
            <a:ext cx="2926079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Adds π/4 relative 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Arbitrary Rotations: Rx, Ry, Rz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The angle controls how far the state rotates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3291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Rx(θ)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310896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Rotation around the x-axis</a:t>
            </a:r>
            <a:br/>
            <a:br/>
            <a:r>
              <a:t>Rx(θ) = cos(θ/2)I − i sin(θ/2)X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32918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Ry(θ)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10896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Rotation around the y-axis</a:t>
            </a:r>
            <a:br/>
            <a:br/>
            <a:r>
              <a:t>Ry(θ) = [cos(θ/2) −sin(θ/2); sin(θ/2) cos(θ/2)]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32918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Rz(θ)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38528"/>
            <a:ext cx="310896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Rotation around the z-axis</a:t>
            </a:r>
            <a:br/>
            <a:br/>
            <a:r>
              <a:t>Rz(θ) = [e^(−iθ/2) 0; 0 e^(iθ/2)]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516636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537667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Same idea: choose an axis + choose an angle.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Worked Example: H Creates Superposition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Start at |0⟩ and transform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029968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ptos"/>
              </a:defRPr>
            </a:pPr>
            <a:r>
              <a:t>(|0⟩ + |1⟩)/√2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9235440" cy="6858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6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Aptos"/>
              </a:defRPr>
            </a:pPr>
            <a:r>
              <a:t>H|0⟩ = (1/√2)[1 1; 1 −1][1; 0] = (1/√2)[1;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Aptos"/>
              </a:defRPr>
            </a:pPr>
            <a:r>
              <a:t>Measurement probabilities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Aptos"/>
              </a:defRPr>
            </a:pPr>
            <a:r>
              <a:t>P(0) = 1/2      P(1) = 1/2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3566160"/>
            <a:ext cx="2011680" cy="201168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56509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3474720"/>
            <a:ext cx="18288" cy="219456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4562856"/>
            <a:ext cx="219456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06640" y="4270248"/>
            <a:ext cx="2011680" cy="603504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4572000"/>
            <a:ext cx="647340" cy="-67303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86668" y="3825809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9548" y="373436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4149547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6159" y="4645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From Mathematics to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Your raw NumPy simulator follows the same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989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import numpy as np</a:t>
            </a:r>
            <a:br/>
            <a:br/>
            <a:r>
              <a:t>ket0 = np.array([1, 0], dtype=complex)</a:t>
            </a:r>
            <a:br/>
            <a:r>
              <a:t>H = (1/np.sqrt(2))*np.array([[1,1],</a:t>
            </a:r>
            <a:br/>
            <a:r>
              <a:t>                             [1,-1]], dtype=complex)</a:t>
            </a:r>
            <a:br/>
            <a:br/>
            <a:r>
              <a:t>state = np.dot(H, ket0)</a:t>
            </a:r>
            <a:br/>
            <a:r>
              <a:t>print(state)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81912"/>
            <a:ext cx="3337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84248"/>
            <a:ext cx="33375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ket0 = [1, 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063240"/>
            <a:ext cx="73152" cy="13716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227832"/>
            <a:ext cx="3337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30168"/>
            <a:ext cx="33375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state = H · ket0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709160"/>
            <a:ext cx="374903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709160"/>
            <a:ext cx="73152" cy="10515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873752"/>
            <a:ext cx="3337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276088"/>
            <a:ext cx="333755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≈ [0.7071, 0.7071]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Measurement &amp; State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What happens when we finally observe the qubit?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Aptos"/>
              </a:defRPr>
            </a:pPr>
            <a:r>
              <a:t>Before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Aptos"/>
              </a:defRPr>
            </a:pPr>
            <a:r>
              <a:t>|+⟩ = (|0⟩ + |1⟩)/√2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7451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87451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7451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801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280160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444751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OUTCOME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847088"/>
            <a:ext cx="2971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Probability = 1/2</a:t>
            </a:r>
            <a:br/>
            <a:r>
              <a:t>State → |0⟩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97180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971800"/>
            <a:ext cx="73152" cy="13258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136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OUTCOME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538728"/>
            <a:ext cx="29718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Probability = 1/2</a:t>
            </a:r>
            <a:br/>
            <a:r>
              <a:t>State → |1⟩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34840"/>
            <a:ext cx="9875520" cy="77724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68172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Aptos"/>
              </a:defRPr>
            </a:pPr>
            <a:r>
              <a:t>One run gives one outcome. Repeating the experiment approaches the predicted probabilities.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The Complete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single-qubit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4231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3152" cy="2194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0116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078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0200"/>
            <a:ext cx="24231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00200"/>
            <a:ext cx="73152" cy="21945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647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67128"/>
            <a:ext cx="20116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Apply a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1078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7C3AE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00200"/>
            <a:ext cx="24231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00200"/>
            <a:ext cx="73152" cy="21945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647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NEW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67128"/>
            <a:ext cx="20116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|ψ′⟩ = U|ψ⟩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1078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EA5E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2402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556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600200"/>
            <a:ext cx="24231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600200"/>
            <a:ext cx="73152" cy="2194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7647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167128"/>
            <a:ext cx="20116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0 or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1078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4617720"/>
            <a:ext cx="9738360" cy="7772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4864608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Aptos"/>
              </a:defRPr>
            </a:pPr>
            <a:r>
              <a:t>Example:  |0⟩  →  H  →  |+⟩  →  measurement  →  0 or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Turn the ideas into calculations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Write |0⟩ and |1⟩ as column vectors and verify normalization.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Calculate X|0⟩ and X|1⟩ by hand.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Apply H to |0⟩ and calculate P(0) and P(1).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Choose α and β satisfying |α|² + |β|² = 1, then calculate the probabilities.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ptos"/>
              </a:defRPr>
            </a:pPr>
            <a:r>
              <a:t>• Implement one gate in NumPy and compare the output with your hand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5440680"/>
            <a:ext cx="8138160" cy="658368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564184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Aptos"/>
              </a:defRPr>
            </a:pPr>
            <a:r>
              <a:t>Challenge: Can you predict the output before running the 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The five ideas to carry 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QUBIT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normalized state vector with complex amplitudes.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SUPERPOSITION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state can contain amplitudes for multiple basis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73152" cy="11430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07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BLOCH SPHERE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1012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A geometric visualization of a single-qubit pure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07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1012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Matrices transform states; many transformations have a rotation picture.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73152" cy="1143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25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2744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ptos"/>
              </a:defRPr>
            </a:pPr>
            <a:r>
              <a:t>Produces a classical outcome according to the state's probabilities.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293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Aptos"/>
              </a:defRPr>
            </a:pPr>
            <a:r>
              <a:t>From vectors &amp; matrices → to geometry → to code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2651759"/>
            <a:ext cx="2651760" cy="26517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230428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|0⟩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ptos"/>
              </a:defRPr>
            </a:pPr>
            <a:r>
              <a:t>|1⟩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2560319"/>
            <a:ext cx="18288" cy="283464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3968496"/>
            <a:ext cx="283464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3579875"/>
            <a:ext cx="2651760" cy="795528"/>
          </a:xfrm>
          <a:prstGeom prst="ellipse">
            <a:avLst/>
          </a:prstGeom>
          <a:noFill/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3977639"/>
            <a:ext cx="853312" cy="-88718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60920" y="3017301"/>
            <a:ext cx="146304" cy="14630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3800" y="292586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ptos"/>
              </a:defRPr>
            </a:pPr>
            <a:r>
              <a:t>|ψ⟩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342077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6064" y="405079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ptos"/>
              </a:defRPr>
            </a:pPr>
            <a:r>
              <a:t>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ptos"/>
              </a:defRPr>
            </a:pPr>
            <a:r>
              <a:t>Quantum Computing • Week 4 • Milestone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ptos"/>
              </a:defRPr>
            </a:pPr>
            <a:r>
              <a:t>Week 4 • Quantum Computing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